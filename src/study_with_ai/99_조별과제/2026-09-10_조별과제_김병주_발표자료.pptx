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 and latest interactive HTML.
- Cover map image based on user-provided selected-district coordinate map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analysis question and rationale.
- Place type count chart generated from the user-provided HTML embedded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dataset source, download date, row counts, and limitations.
- Scatter plot generated from the user-provided HTML coordinate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cleaning counts, duplicate rule, coordinate filtering, display-location rule, missing-value checks.
- Cleaning flow image generated from the same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HTML note: 1㎢당 고유 위치 수가 클수록 설치 지점이 더 촘촘함.
- Heatmap generated from the Plotly heatmap data embedded in the user-provided HTML.
- Top density combination from generated heatmap data: 성동구·주요거리, 23.68 locations per 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core graph requirement and map-based accessibility rationale.
- Heatmap and selected-district coordinate map from the user-provided HTML / latest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latest map screenshot: selected-district display-location distribution with subway lines and stations.
- User-provided draft criteria: 지도 기반 확인 and subway route/station reference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latest map screenshot and explanation of score color, subway line, station, and public Wi-Fi markers.
- Interpretive caution from user-provided draft criteria: coordinate-based reference map, not administrative-boundary or actual road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testing status, coordinate filtering, duplicate removal, area merge, and missing-value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draft criteria: AI usage, weighted score, unique location count, area-normalized density, and subway GeoJSON usage.
- Top combination chart generated from the user-provided HTML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- User-provided interactive HTML usage note: heatmap cells open detailed location accessibility graph and ranking table.
- Conclusion synthesized from user-provided draft criteria and interactive HTML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wifi_accessibility_chart.html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pic>
        <p:nvPicPr>
          <p:cNvPr id="3" name="Image 0" descr="/mnt/data/fc541e1d-1eb3-46de-b811-3da232057098.png">    </p:cNvPr>
          <p:cNvPicPr>
            <a:picLocks noChangeAspect="1"/>
          </p:cNvPicPr>
          <p:nvPr/>
        </p:nvPicPr>
        <p:blipFill>
          <a:blip r:embed="rId1"/>
          <a:srcRect l="27131" r="27131" t="0" b="0"/>
          <a:stretch/>
        </p:blipFill>
        <p:spPr>
          <a:xfrm>
            <a:off x="6080760" y="502920"/>
            <a:ext cx="544068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97880" y="411480"/>
            <a:ext cx="5897880" cy="5257800"/>
          </a:xfrm>
          <a:prstGeom prst="rect">
            <a:avLst/>
          </a:prstGeom>
          <a:solidFill>
            <a:srgbClr val="F8FBFF">
              <a:alpha val="82000"/>
            </a:srgbClr>
          </a:solidFill>
          <a:ln w="12700">
            <a:solidFill>
              <a:srgbClr val="F8FB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960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공공와이파이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접근성 분석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658368" y="3017520"/>
            <a:ext cx="4023360" cy="0"/>
          </a:xfrm>
          <a:prstGeom prst="line">
            <a:avLst/>
          </a:prstGeom>
          <a:noFill/>
          <a:ln w="31750">
            <a:solidFill>
              <a:srgbClr val="1E64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자치구를 고르고, 실제 위치까지 확인하는 2단계 분석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지표: 1㎢당 고유 위치 수  ·  별첨 HTML 시연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5989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김병주 | 조별과제 발표자료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왜 이 질문을 선정했나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“많이 설치된 곳”보다 “실제로 찾기 쉬운 곳”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서울에서 실외 공공와이파이에 물리적으로 접근하기 쉬운 자치구는 어디인가?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48006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무료 인터넷은 데이터 요금 부담을 줄이는 공공 인프라입니다. 하지만 실외에서 중요한 것은 전체 설치 수보다, 길거리·공원·광장 같은 생활공간 주변에서 얼마나 쉽게 발견되는지입니다.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4088" y="32461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기준을 이렇게 바꿨습니다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3767328"/>
            <a:ext cx="310896" cy="310896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 개수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44988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 크기가 달라 그대로 비교하기 어렵다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207008" y="3922776"/>
            <a:ext cx="758952" cy="0"/>
          </a:xfrm>
          <a:prstGeom prst="line">
            <a:avLst/>
          </a:prstGeom>
          <a:noFill/>
          <a:ln w="2286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3767328"/>
            <a:ext cx="310896" cy="310896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면적 대비 밀도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74520" y="44988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1㎢당 고유 위치 수로 같은 기준을 만든다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761488" y="3922776"/>
            <a:ext cx="758952" cy="0"/>
          </a:xfrm>
          <a:prstGeom prst="line">
            <a:avLst/>
          </a:prstGeom>
          <a:noFill/>
          <a:ln w="22860">
            <a:solidFill>
              <a:srgbClr val="D8E0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31920" y="376732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위치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449884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선택한 자치구 안에서 어디에 있는지 확인한다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80176" y="1682496"/>
            <a:ext cx="5367528" cy="405993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/mnt/data/wifi_assets/place_type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523744"/>
            <a:ext cx="5349240" cy="23774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053328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장소유형별 분포를 함께 보아 실외 생활동선과 관련된 설치 특성을 확인했습니다.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데이터 선정 이유·출처·기간·한계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분석에 쓸 수 있는 정보와 쓸 수 없는 정보를 먼저 구분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열린데이터광장 공공와이파이 위치 정보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26,285건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행 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12,982건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실외 필터링 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10,903곳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130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고유 위치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880360"/>
            <a:ext cx="4297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포함 정보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자치구, 주소, 설치유형, 실내외구분, 위도·경도, 작업일자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4023360"/>
            <a:ext cx="4297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접속 속도, 고장 여부, 신호 반경, 이용자 수, 만족도는 알 수 없습니다.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563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이 분석은 “와이파이 품질”이 아니라 “실외에서 물리적으로 발견하기 쉬운 설치 위치 밀도”에 초점을 맞췄습니다.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28816" y="1655064"/>
            <a:ext cx="4818888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/mnt/data/wifi_assets/scatter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19072"/>
            <a:ext cx="4800600" cy="411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605332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기반 분포도는 실제 행정구역 경계가 아닌 참고용 위치 분포입니다.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데이터를 믿을 수 있게 만들기 위해 한 작업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실외·서울 자치구·정상 좌표·고유 위치 기준으로 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질문에 맞지 않는 행을 제외하고, 실제 위치 단위로 다시 계산했습니다.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4088" y="1618488"/>
            <a:ext cx="5687568" cy="225856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wifi_assets/cleanin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45412"/>
            <a:ext cx="5669280" cy="220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표시위치 만들기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590288"/>
            <a:ext cx="4480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도로명 주소가 있으면 도로명 주소를 사용하고, 없으면 와이파이명을 넣어 “표시위치” 컬럼을 만들었습니다.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5440680"/>
            <a:ext cx="2377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처리 기준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5760720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동일한 자치구·장소유형·X좌표·Y좌표를 가진 기록은 하나의 실제 설치 위치로 판단했습니다.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294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후 확인한 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164건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0" y="2587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25개 자치구 외 제외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4964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37건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549640" y="2587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오류·범위 밖 제외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0" y="3337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1,878건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583680" y="3776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위치 중복 제거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549640" y="3337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A7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549640" y="37764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면적 정보 누락 / 최종 좌표 결측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0" y="4892040"/>
            <a:ext cx="4297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4563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기준을 먼저 고정해야 자치구 간 비교와 지도 시연이 같은 데이터 위에서 이어집니다.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중요한 그래프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1단계: 자치구·장소유형을 같은 기준으로 비교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지표는 1㎢당 고유 위치 수입니다.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0936" y="1591056"/>
            <a:ext cx="6510528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wifi_asset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22482"/>
            <a:ext cx="6492240" cy="40714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히트맵을 읽는 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06640" y="2011680"/>
            <a:ext cx="3977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행: 자치구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열: 장소유형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색이 진할수록 면적 대비 밀도 높음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개별 속도가 아니라 “근처에서 찾기 쉬운 정도”로 해석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066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스토리상 역할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06640" y="4206240"/>
            <a:ext cx="39776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“어느 자치구·장소유형 조합이 촘촘한가?”를 골라냅니다. 여기서 끝내지 않고, 선택한 조합을 지도에서 다시 확인합니다.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406640" y="5504688"/>
            <a:ext cx="3657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성동구 · 주요거리 23.68곳/㎢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중요한 그래프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밀도 비교만으로는 “물리적 접근성”을 다 설명하기 어렵다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히트맵 선택 후 실제 표시위치 분포로 내려갔습니다.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682496"/>
            <a:ext cx="47731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wifi_assets/heatmap.png">    </p:cNvPr>
          <p:cNvPicPr>
            <a:picLocks noChangeAspect="1"/>
          </p:cNvPicPr>
          <p:nvPr/>
        </p:nvPicPr>
        <p:blipFill>
          <a:blip r:embed="rId1"/>
          <a:srcRect l="4455" r="4455" t="0" b="0"/>
          <a:stretch/>
        </p:blipFill>
        <p:spPr>
          <a:xfrm>
            <a:off x="685800" y="1691640"/>
            <a:ext cx="4754880" cy="3273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11696" y="1682496"/>
            <a:ext cx="477316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mnt/data/fc541e1d-1eb3-46de-b811-3da232057098.png">    </p:cNvPr>
          <p:cNvPicPr>
            <a:picLocks noChangeAspect="1"/>
          </p:cNvPicPr>
          <p:nvPr/>
        </p:nvPicPr>
        <p:blipFill>
          <a:blip r:embed="rId2"/>
          <a:srcRect l="19016" r="19016" t="0" b="0"/>
          <a:stretch/>
        </p:blipFill>
        <p:spPr>
          <a:xfrm>
            <a:off x="6720840" y="1691640"/>
            <a:ext cx="4754880" cy="32735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76272" y="5257800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67712" y="5312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1단계: 비교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83880" y="5257800"/>
            <a:ext cx="1828800" cy="310896"/>
          </a:xfrm>
          <a:prstGeom prst="roundRect">
            <a:avLst>
              <a:gd name="adj" fmla="val 4705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75320" y="53126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2단계: 위치 확인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596128" y="3291840"/>
            <a:ext cx="914400" cy="0"/>
          </a:xfrm>
          <a:prstGeom prst="line">
            <a:avLst/>
          </a:prstGeom>
          <a:noFill/>
          <a:ln w="2286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1371600" y="5742432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자치구별 밀도 비교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983480" y="5742432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자치구·장소유형 선택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178040" y="5742432"/>
            <a:ext cx="4023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공공와이파이 표시위치와 이동망 참고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핵심 그래프 해석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선택한 자치구에서는 실제 표시위치가 어디에 몰려 있는가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자치구를 고른 뒤, 지하철 노선·역을 참고 레이어로 함께 표시했습니다.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1618488"/>
            <a:ext cx="7333488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fc541e1d-1eb3-46de-b811-3da2320570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25184"/>
            <a:ext cx="7315200" cy="31208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지도에서 말할 수 있는 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1965960"/>
            <a:ext cx="3291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공공와이파이 표시위치가 어느 구역에 모이는지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선택한 자치구 안에서 장소유형별 분포가 어떤지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지하철 노선·역 주변 생활동선과 시각적으로 어떻게 겹쳐 보이는지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82296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주의해서 표현할 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0" y="4251960"/>
            <a:ext cx="3291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지하철까지의 실제 거리 계산이나 행정구역 경계 분석은 아닙니다. 원본 X·Y 좌표를 이용한 참고용 위치 분포입니다.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82296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 요약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4563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“밀도로 자치구를 비교하고, 선택한 자치구의 실제 설치 위치를 지하철 이동망과 함께 확인했다.”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지도는 이렇게 읽습니다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색·점·선은 서로 다른 정보를 보여주는 보조 장치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발표에서는 “참고 지도”라는 표현을 유지하는 것이 안전합니다.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0936" y="1618488"/>
            <a:ext cx="6099048" cy="4242816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fc541e1d-1eb3-46de-b811-3da232057098.png">    </p:cNvPr>
          <p:cNvPicPr>
            <a:picLocks noChangeAspect="1"/>
          </p:cNvPicPr>
          <p:nvPr/>
        </p:nvPicPr>
        <p:blipFill>
          <a:blip r:embed="rId1"/>
          <a:srcRect l="19296" r="19296" t="0" b="0"/>
          <a:stretch/>
        </p:blipFill>
        <p:spPr>
          <a:xfrm>
            <a:off x="640080" y="1627632"/>
            <a:ext cx="6080760" cy="4224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요소별 의미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132320" y="2029968"/>
            <a:ext cx="210312" cy="210312"/>
          </a:xfrm>
          <a:prstGeom prst="ellipse">
            <a:avLst/>
          </a:prstGeom>
          <a:solidFill>
            <a:srgbClr val="D92525"/>
          </a:solidFill>
          <a:ln w="12700">
            <a:solidFill>
              <a:srgbClr val="D925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9792" y="1984248"/>
            <a:ext cx="3017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공공와이파이 표시위치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132320" y="2578608"/>
            <a:ext cx="210312" cy="210312"/>
          </a:xfrm>
          <a:prstGeom prst="rect">
            <a:avLst/>
          </a:prstGeom>
          <a:solidFill>
            <a:srgbClr val="D92525"/>
          </a:solidFill>
          <a:ln w="12700">
            <a:solidFill>
              <a:srgbClr val="D925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9792" y="2487168"/>
            <a:ext cx="3474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 색: 장소유형 가중치가 반영된 종합점수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진할수록 점수가 높음</a:t>
            </a:r>
            <a:endParaRPr lang="en-US" sz="1380" dirty="0"/>
          </a:p>
        </p:txBody>
      </p:sp>
      <p:sp>
        <p:nvSpPr>
          <p:cNvPr id="12" name="Shape 9"/>
          <p:cNvSpPr/>
          <p:nvPr/>
        </p:nvSpPr>
        <p:spPr>
          <a:xfrm>
            <a:off x="7132320" y="3429000"/>
            <a:ext cx="5029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319272"/>
            <a:ext cx="2743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 선: 지하철 노선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168896" y="3950208"/>
            <a:ext cx="201168" cy="201168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9792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검은 마름모: 지하철역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132320" y="4590288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 방식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32320" y="4983480"/>
            <a:ext cx="38862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“지하철 접근성이 좋다”가 아니라, “실외 이동 동선과 함께 참고해서 볼 수 있도록 지하철 노선·역을 겹쳐 표시했다”라고 말합니다.</a:t>
            </a:r>
            <a:endParaRPr lang="en-US" sz="1430" dirty="0"/>
          </a:p>
        </p:txBody>
      </p:sp>
      <p:sp>
        <p:nvSpPr>
          <p:cNvPr id="18" name="Text 15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검정을 했다면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통계적 유의성 검정이 아니라 기술통계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자치구별 공공와이파이 설치 위치의 밀도를 비교하는 분석입니다.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검정은 수행하지 않았습니다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6634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분석은 집단 간 평균 차이를 검정하는 t-검정이 아니라, “어디에 얼마나 촘촘히 설치되어 있는가”를 확인하는 위치 밀도 비교입니다.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대신 확인한 기준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675888"/>
            <a:ext cx="4663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25개 자치구 기준 여부, 정상 좌표 범위, 중복 위치 제거, 면적 정보 결합, 최종 좌표 결측치 여부를 확인했습니다.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36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164건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818120" y="15636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25개 자치구 외 제외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2039112"/>
            <a:ext cx="4572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134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818120" y="23408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오류·범위 밖 제외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2816352"/>
            <a:ext cx="4572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906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9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1,878건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18120" y="31181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위치 중복 제거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3593592"/>
            <a:ext cx="4572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67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A7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18120" y="38953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면적 정보 누락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4370832"/>
            <a:ext cx="4572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45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3A7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0건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18120" y="46725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X·Y 결측치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562356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4563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발표에서는 “통계적 검정”보다 “데이터 정제 기준과 비교 지표가 질문에 맞는가”를 중심으로 설명합니다.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AI 활용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방향·점수화·시각화 구현을 보조 도구로 활용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판단은 사람이 하고, 반복 구현과 인터랙티브 시각화는 AI 도움을 받았습니다.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요청한 핵심 작업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011680"/>
            <a:ext cx="49834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장소유형별 가중치 점수 반영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고유위치수, 면적(㎢), 1㎢당 고유위치수 계산 기준 정리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히트맵 선택 시 좌표 기반 상세 분포도와 순위표 표시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지하철 노선·역 데이터를 지도 위에 함께 표시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749808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좌표 데이터 활용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4590288"/>
            <a:ext cx="4983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seoul_subway_lines.geojson: 지하철 노선 선 좌표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seoul_subway_stations.geojson: 지하철역 좌표·역명·노선 정보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71616" y="1655064"/>
            <a:ext cx="5184648" cy="2990088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mnt/data/wifi_assets/top_comb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15008"/>
            <a:ext cx="5166360" cy="2870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8076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구분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80760" y="5468112"/>
            <a:ext cx="4983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시각화 구조와 코드 작성을 도왔고, 분석 질문·데이터 기준·해석 방향은 사람이 판단했습니다.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및 HTML 시연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PPT는 스토리 요약, HTML은 인터랙티브 상세 확인용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252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히트맵에서 선택하고, 지도에서 실제 표시위치까지 내려가 확인합니다.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4572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공공와이파이 접근성은 단순 설치 수보다 면적 대비 밀도로 보는 것이 적절합니다.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45720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실외 이용을 고려하면 자치구뿐 아니라 장소유형과 이동 동선을 함께 봐야 합니다.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188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45720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HTML에서는 히트맵 클릭 후 자치구·장소유형별 상세 위치와 순위표를 확인할 수 있습니다.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25896" y="1682496"/>
            <a:ext cx="509320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8E0EA">
                <a:alpha val="95000"/>
              </a:srgbClr>
            </a:solidFill>
            <a:prstDash val="solid"/>
          </a:ln>
          <a:effectLst>
            <a:outerShdw sx="100000" sy="100000" kx="0" ky="0" algn="bl" rotWithShape="0" blurRad="12700" dist="1016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/mnt/data/wifi_assets/heatmap.png">    </p:cNvPr>
          <p:cNvPicPr>
            <a:picLocks noChangeAspect="1"/>
          </p:cNvPicPr>
          <p:nvPr/>
        </p:nvPicPr>
        <p:blipFill>
          <a:blip r:embed="rId1"/>
          <a:srcRect l="0" r="0" t="1157" b="1157"/>
          <a:stretch/>
        </p:blipFill>
        <p:spPr>
          <a:xfrm>
            <a:off x="6035040" y="1691640"/>
            <a:ext cx="5074920" cy="3108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0" y="5166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별첨 HTML 시연 파일</a:t>
            </a:r>
            <a:endParaRPr lang="en-US" sz="1500" dirty="0"/>
          </a:p>
        </p:txBody>
      </p:sp>
      <p:sp>
        <p:nvSpPr>
          <p:cNvPr id="14" name="Text 11">
            <a:hlinkClick r:id="rId2" tooltip=""/>
          </p:cNvPr>
          <p:cNvSpPr/>
          <p:nvPr/>
        </p:nvSpPr>
        <p:spPr>
          <a:xfrm>
            <a:off x="6126480" y="5559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u="sng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wifi_accessibility_chart.html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6126480" y="5870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발표자료와 HTML 파일을 같은 폴더에 두고 발표 모드에서 클릭하면 열립니다.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594360" y="64465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서울 실외 공공와이파이 접근성 분석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73968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64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엔코아 AI 캠퍼스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실외 공공와이파이 접근성 분석</dc:title>
  <dc:subject>서울 실외 공공와이파이 접근성 분석</dc:subject>
  <dc:creator>OpenAI</dc:creator>
  <cp:lastModifiedBy>OpenAI</cp:lastModifiedBy>
  <cp:revision>1</cp:revision>
  <dcterms:created xsi:type="dcterms:W3CDTF">2026-09-10T04:58:20Z</dcterms:created>
  <dcterms:modified xsi:type="dcterms:W3CDTF">2026-09-10T04:58:20Z</dcterms:modified>
</cp:coreProperties>
</file>