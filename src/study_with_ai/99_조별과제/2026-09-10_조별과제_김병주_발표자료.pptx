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draft criteria and presentation topic.
- User-provided interactive HTML: /mnt/data/wifi_accessibility_chart(1).html.
- Cover scatter plot generated from the HTML embedded coordinate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draft criteria: analysis question and rationale.
- Place type count chart generated from the user-provided HTML locationDetails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draft criteria: dataset source, download date, row counts, and limitations.
- Scatter plot generated from the user-provided HTML coordinate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draft criteria: cleaning counts, duplicate rule, coordinate filtering, and display location rule.
- Cleaning flow image generated from the same counts.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draft criteria: core graph requirement and indicator interpretation.
- User-provided HTML note: 1㎢당 고유 위치 수가 클수록 설치 지점이 더 촘촘함.
- Heatmap generated from the Plotly heatmap data embedded in the user-provided HTML.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draft criteria: map-based accessibility and subway-route rationale.
- Scatter map and top-combination chart generated from the user-provided HTML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draft criteria: testing status, coordinate filtering, duplicate removal, and missing-value checks.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draft criteria: AI usage, weighted score, unique location count, area-normalized density, and subway GeoJSON usage.
- Scatter map generated from the user-provided HTML and subway location references.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draft criteria: conclusions and HTML demonstration plan.
- User-provided interactive HTML: heatmap cells open detailed location accessibility graph and ranking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wifi_accessibility_chart.html" TargetMode="Externa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886200" cy="6858000"/>
          </a:xfrm>
          <a:prstGeom prst="rect">
            <a:avLst/>
          </a:prstGeom>
          <a:solidFill>
            <a:srgbClr val="F8FBFD"/>
          </a:solidFill>
          <a:ln w="12700">
            <a:solidFill>
              <a:srgbClr val="F8FBFD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21792" y="1188720"/>
            <a:ext cx="2880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실외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공공와이파이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접근성 분석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3035808"/>
            <a:ext cx="960120" cy="0"/>
          </a:xfrm>
          <a:prstGeom prst="line">
            <a:avLst/>
          </a:prstGeom>
          <a:noFill/>
          <a:ln w="508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341071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5D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자치구별·장소유형별 설치 밀도 비교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373075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지표: 1㎢당 고유 위치 수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21792" y="614476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김병주 | 조별과제 발표자료</a:t>
            </a:r>
            <a:endParaRPr lang="en-US" sz="750" dirty="0"/>
          </a:p>
        </p:txBody>
      </p:sp>
      <p:pic>
        <p:nvPicPr>
          <p:cNvPr id="9" name="Image 0" descr="/mnt/data/wifi_assets/scatter_map.png">    </p:cNvPr>
          <p:cNvPicPr>
            <a:picLocks noChangeAspect="1"/>
          </p:cNvPicPr>
          <p:nvPr/>
        </p:nvPicPr>
        <p:blipFill>
          <a:blip r:embed="rId1"/>
          <a:srcRect l="0" r="0" t="1817" b="1817"/>
          <a:stretch/>
        </p:blipFill>
        <p:spPr>
          <a:xfrm>
            <a:off x="3886200" y="0"/>
            <a:ext cx="8302752" cy="68580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0" y="43891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 기반 실외 접근성 비교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왜 이 질문을 선정했나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질문과 선정 이유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585216" y="13716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서울에서 실외 공공와이파이에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물리적으로 접근하기 쉬운 자치구는 어디인가?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85216" y="2468880"/>
            <a:ext cx="6492240" cy="713232"/>
          </a:xfrm>
          <a:prstGeom prst="roundRect">
            <a:avLst>
              <a:gd name="adj" fmla="val 10256"/>
            </a:avLst>
          </a:prstGeom>
          <a:solidFill>
            <a:srgbClr val="FFF4DD"/>
          </a:solidFill>
          <a:ln w="1270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" y="2468880"/>
            <a:ext cx="54864" cy="7132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542032"/>
            <a:ext cx="6236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단순히 “설치 장소가 많은 곳”이 아니라, 자치구 면적 대비 얼마나 촘촘히 설치되어 있는지를 비교했습니다.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1792" y="3703320"/>
            <a:ext cx="804672" cy="256032"/>
          </a:xfrm>
          <a:prstGeom prst="roundRect">
            <a:avLst>
              <a:gd name="adj" fmla="val 17857"/>
            </a:avLst>
          </a:prstGeom>
          <a:solidFill>
            <a:srgbClr val="1F5D8C"/>
          </a:solidFill>
          <a:ln w="12700">
            <a:solidFill>
              <a:srgbClr val="1F5D8C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3753612"/>
            <a:ext cx="6217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공공성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627632" y="3657600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인터넷은 데이터 요금 부담을 줄이고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접근성을 높이는 공공 인프라입니다.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" y="4370832"/>
            <a:ext cx="804672" cy="256032"/>
          </a:xfrm>
          <a:prstGeom prst="roundRect">
            <a:avLst>
              <a:gd name="adj" fmla="val 17857"/>
            </a:avLst>
          </a:prstGeom>
          <a:solidFill>
            <a:srgbClr val="1D8A99"/>
          </a:solidFill>
          <a:ln w="12700">
            <a:solidFill>
              <a:srgbClr val="1D8A99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4421124"/>
            <a:ext cx="6217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실외성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627632" y="4325112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길거리·공원·광장 등 생활공간에서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접근 가능한지를 보았습니다.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" y="5038344"/>
            <a:ext cx="80467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5088636"/>
            <a:ext cx="6217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밀도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627632" y="499262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자치구별 면적 차이를 고려하기 위해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1㎢당 고유 위치 수를 기준으로 삼았습니다.</a:t>
            </a:r>
            <a:endParaRPr lang="en-US" sz="1200" dirty="0"/>
          </a:p>
        </p:txBody>
      </p:sp>
      <p:pic>
        <p:nvPicPr>
          <p:cNvPr id="18" name="Image 0" descr="/mnt/data/wifi_assets/place_type_cou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919732"/>
            <a:ext cx="4343400" cy="19304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7406640" y="470916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장소유형별 분포를 함께 보아 실외 생활동선과 관련된 설치 특성을 확인했습니다.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11480" y="6547104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A879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실외 공공와이파이 접근성 분석</a:t>
            </a:r>
            <a:endParaRPr lang="en-US" sz="650" dirty="0"/>
          </a:p>
        </p:txBody>
      </p:sp>
      <p:sp>
        <p:nvSpPr>
          <p:cNvPr id="21" name="Text 18"/>
          <p:cNvSpPr/>
          <p:nvPr/>
        </p:nvSpPr>
        <p:spPr>
          <a:xfrm>
            <a:off x="11384280" y="65105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A879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411480" y="6419088"/>
            <a:ext cx="11338560" cy="0"/>
          </a:xfrm>
          <a:prstGeom prst="line">
            <a:avLst/>
          </a:prstGeom>
          <a:noFill/>
          <a:ln w="12700">
            <a:solidFill>
              <a:srgbClr val="E6EEF5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데이터 선정 이유·출처·기간·한계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열린데이터광장 공공와이파이 위치 정보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566928" y="126187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D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선정 이유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66928" y="1664208"/>
            <a:ext cx="5760720" cy="11430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</a:t>
            </a:r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자치구, 주소, 설치유형, 실내외구분, 위도·경도, 작업일자 포함
</a:t>
            </a:r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</a:t>
            </a:r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실외 설치 장소를 자치구·장소유형 기준으로 비교 가능
</a:t>
            </a:r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</a:t>
            </a:r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서울시와 자치구가 제공하는 공공 무선인터넷 AP 위치 정보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3127248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EAF4FB"/>
          </a:solidFill>
          <a:ln w="12700">
            <a:solidFill>
              <a:srgbClr val="1F5D8C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3127248"/>
            <a:ext cx="54864" cy="1371600"/>
          </a:xfrm>
          <a:prstGeom prst="rect">
            <a:avLst/>
          </a:prstGeom>
          <a:solidFill>
            <a:srgbClr val="1F5D8C"/>
          </a:solidFill>
          <a:ln w="12700">
            <a:solidFill>
              <a:srgbClr val="1F5D8C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3200400"/>
            <a:ext cx="326440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다운로드일: 2026-09-08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행 수: 26,285건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실외 필터링 후 행 수: 12,982건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고유 위치: 10,903곳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66928" y="48920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4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한계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66928" y="5239512"/>
            <a:ext cx="5943600" cy="7863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</a:t>
            </a:r>
            <a:pPr indent="0" marL="0">
              <a:buNone/>
            </a:pPr>
            <a:r>
              <a:rPr lang="en-US" sz="110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접속 속도, 고장 여부, 신호 반경은 알 수 없음
</a:t>
            </a:r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</a:t>
            </a:r>
            <a:pPr indent="0" marL="0">
              <a:buNone/>
            </a:pPr>
            <a:r>
              <a:rPr lang="en-US" sz="110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이용자 수와 이용 만족도는 포함되어 있지 않음
</a:t>
            </a:r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</a:t>
            </a:r>
            <a:pPr indent="0" marL="0">
              <a:buNone/>
            </a:pPr>
            <a:r>
              <a:rPr lang="en-US" sz="110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 기반 분포도는 실제 행정구역 경계가 아닌 참고용 위치 분포</a:t>
            </a:r>
            <a:endParaRPr lang="en-US" sz="1100" dirty="0"/>
          </a:p>
        </p:txBody>
      </p:sp>
      <p:pic>
        <p:nvPicPr>
          <p:cNvPr id="12" name="Image 0" descr="/mnt/data/wifi_assets/scatter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238359"/>
            <a:ext cx="4983480" cy="427155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903720" y="5715000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 기반 분포도는 위치 패턴을 보기 위한 참고용 시각화입니다.</a:t>
            </a:r>
            <a:endParaRPr lang="en-US" sz="880" dirty="0"/>
          </a:p>
        </p:txBody>
      </p:sp>
      <p:sp>
        <p:nvSpPr>
          <p:cNvPr id="14" name="Text 11"/>
          <p:cNvSpPr/>
          <p:nvPr/>
        </p:nvSpPr>
        <p:spPr>
          <a:xfrm>
            <a:off x="411480" y="6547104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A879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실외 공공와이파이 접근성 분석</a:t>
            </a:r>
            <a:endParaRPr lang="en-US" sz="650" dirty="0"/>
          </a:p>
        </p:txBody>
      </p:sp>
      <p:sp>
        <p:nvSpPr>
          <p:cNvPr id="15" name="Text 12"/>
          <p:cNvSpPr/>
          <p:nvPr/>
        </p:nvSpPr>
        <p:spPr>
          <a:xfrm>
            <a:off x="11384280" y="65105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A879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411480" y="6419088"/>
            <a:ext cx="11338560" cy="0"/>
          </a:xfrm>
          <a:prstGeom prst="line">
            <a:avLst/>
          </a:prstGeom>
          <a:noFill/>
          <a:ln w="12700">
            <a:solidFill>
              <a:srgbClr val="E6EEF5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데이터를 믿을 수 있게 만들기 위해 한 작업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목적에 맞게 실외·서울 자치구·정상 좌표·고유 위치 기준으로 정리</a:t>
            </a:r>
            <a:endParaRPr lang="en-US" sz="880" dirty="0"/>
          </a:p>
        </p:txBody>
      </p:sp>
      <p:pic>
        <p:nvPicPr>
          <p:cNvPr id="5" name="Image 0" descr="/mnt/data/wifi_assets/cleaning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143000"/>
            <a:ext cx="6583680" cy="2560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98080" y="1207008"/>
            <a:ext cx="1920240" cy="3511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5D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26,285건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571232" y="1572768"/>
            <a:ext cx="177393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공공와이파이 데이터</a:t>
            </a:r>
            <a:endParaRPr lang="en-US" sz="820" dirty="0"/>
          </a:p>
        </p:txBody>
      </p:sp>
      <p:sp>
        <p:nvSpPr>
          <p:cNvPr id="8" name="Text 5"/>
          <p:cNvSpPr/>
          <p:nvPr/>
        </p:nvSpPr>
        <p:spPr>
          <a:xfrm>
            <a:off x="9491472" y="1207008"/>
            <a:ext cx="1920240" cy="3511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8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12,982건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564624" y="1572768"/>
            <a:ext cx="177393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실외 데이터 추출</a:t>
            </a:r>
            <a:endParaRPr lang="en-US" sz="820" dirty="0"/>
          </a:p>
        </p:txBody>
      </p:sp>
      <p:sp>
        <p:nvSpPr>
          <p:cNvPr id="10" name="Text 7"/>
          <p:cNvSpPr/>
          <p:nvPr/>
        </p:nvSpPr>
        <p:spPr>
          <a:xfrm>
            <a:off x="8321040" y="2331720"/>
            <a:ext cx="2377440" cy="3950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10,903곳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8394192" y="2743200"/>
            <a:ext cx="2231136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고유 위치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658368" y="4069080"/>
            <a:ext cx="5166360" cy="1325880"/>
          </a:xfrm>
          <a:prstGeom prst="roundRect">
            <a:avLst>
              <a:gd name="adj" fmla="val 5517"/>
            </a:avLst>
          </a:prstGeom>
          <a:solidFill>
            <a:srgbClr val="EAF4FB"/>
          </a:solidFill>
          <a:ln w="12700">
            <a:solidFill>
              <a:srgbClr val="D7E6F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96112" y="43159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D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 주소 처리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96112" y="468172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도로명 주소가 있으면 도로명 주소를 사용하고, 없으면 와이파이명을 넣어 “표시위치” 컬럼을 만들었습니다.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99632" y="4069080"/>
            <a:ext cx="5166360" cy="1325880"/>
          </a:xfrm>
          <a:prstGeom prst="roundRect">
            <a:avLst>
              <a:gd name="adj" fmla="val 5517"/>
            </a:avLst>
          </a:prstGeom>
          <a:solidFill>
            <a:srgbClr val="FFF4DD"/>
          </a:solidFill>
          <a:ln w="12700">
            <a:solidFill>
              <a:srgbClr val="F2DCA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37376" y="43159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밀도 점수화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37376" y="468172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자치구 면적과 결합해 1㎢당 고유 위치 수를 계산하고, 장소유형별 가중치와 함께 종합점수로 표현했습니다.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58368" y="5650992"/>
            <a:ext cx="10698480" cy="384048"/>
          </a:xfrm>
          <a:prstGeom prst="roundRect">
            <a:avLst>
              <a:gd name="adj" fmla="val 19048"/>
            </a:avLst>
          </a:prstGeom>
          <a:solidFill>
            <a:srgbClr val="F6F8FB"/>
          </a:solidFill>
          <a:ln w="12700">
            <a:solidFill>
              <a:srgbClr val="D9E2EC">
                <a:alpha val="4000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8368" y="5650992"/>
            <a:ext cx="54864" cy="384048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4672" y="5724144"/>
            <a:ext cx="10442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25개 자치구 외 164건, 좌표 범위 밖 또는 0,0 좌표 37건, 중복 기록 1,878건을 제외했습니다.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11480" y="6547104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A879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실외 공공와이파이 접근성 분석</a:t>
            </a:r>
            <a:endParaRPr lang="en-US" sz="650" dirty="0"/>
          </a:p>
        </p:txBody>
      </p:sp>
      <p:sp>
        <p:nvSpPr>
          <p:cNvPr id="22" name="Text 19"/>
          <p:cNvSpPr/>
          <p:nvPr/>
        </p:nvSpPr>
        <p:spPr>
          <a:xfrm>
            <a:off x="11384280" y="65105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A879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411480" y="6419088"/>
            <a:ext cx="11338560" cy="0"/>
          </a:xfrm>
          <a:prstGeom prst="line">
            <a:avLst/>
          </a:prstGeom>
          <a:noFill/>
          <a:ln w="12700">
            <a:solidFill>
              <a:srgbClr val="E6EEF5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중요한 그래프와 핵심 지표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자치구 × 장소유형별 공공와이파이 밀도 히트맵</a:t>
            </a:r>
            <a:endParaRPr lang="en-US" sz="880" dirty="0"/>
          </a:p>
        </p:txBody>
      </p:sp>
      <p:pic>
        <p:nvPicPr>
          <p:cNvPr id="5" name="Image 0" descr="/mnt/data/wifi_assets/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1203831"/>
            <a:ext cx="7315200" cy="45874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092440" y="13258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5D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지표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8092440" y="173736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1㎢당 고유 위치 수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92440" y="2423160"/>
            <a:ext cx="3429000" cy="12070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</a:t>
            </a:r>
            <a:pPr indent="0" marL="0">
              <a:buNone/>
            </a:pPr>
            <a:r>
              <a:rPr lang="en-US" sz="115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행: 자치구
</a:t>
            </a:r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</a:t>
            </a:r>
            <a:pPr indent="0" marL="0">
              <a:buNone/>
            </a:pPr>
            <a:r>
              <a:rPr lang="en-US" sz="115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열: 장소유형
</a:t>
            </a:r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</a:t>
            </a:r>
            <a:pPr indent="0" marL="0">
              <a:buNone/>
            </a:pPr>
            <a:r>
              <a:rPr lang="en-US" sz="115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색이 진할수록 면적 대비 밀도 높음
</a:t>
            </a:r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</a:t>
            </a:r>
            <a:pPr indent="0" marL="0">
              <a:buNone/>
            </a:pPr>
            <a:r>
              <a:rPr lang="en-US" sz="115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 속도가 아니라 “근처에서 찾기 쉬운 정도”로 해석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065008" y="4160520"/>
            <a:ext cx="3429000" cy="1005840"/>
          </a:xfrm>
          <a:prstGeom prst="roundRect">
            <a:avLst>
              <a:gd name="adj" fmla="val 7273"/>
            </a:avLst>
          </a:prstGeom>
          <a:solidFill>
            <a:srgbClr val="FFF4DD"/>
          </a:solidFill>
          <a:ln w="1270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065008" y="4160520"/>
            <a:ext cx="54864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11312" y="4233672"/>
            <a:ext cx="317296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 밀도 조합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성동구 · 주요거리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23.68곳/㎢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119872" y="5532120"/>
            <a:ext cx="3310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3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히트맵에서 조합을 선택하면 상세 위치 분포와 순위표를 확인할 수 있습니다.</a:t>
            </a:r>
            <a:endParaRPr lang="en-US" sz="930" dirty="0"/>
          </a:p>
        </p:txBody>
      </p:sp>
      <p:sp>
        <p:nvSpPr>
          <p:cNvPr id="13" name="Text 10"/>
          <p:cNvSpPr/>
          <p:nvPr/>
        </p:nvSpPr>
        <p:spPr>
          <a:xfrm>
            <a:off x="411480" y="6547104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A879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실외 공공와이파이 접근성 분석</a:t>
            </a:r>
            <a:endParaRPr lang="en-US" sz="650" dirty="0"/>
          </a:p>
        </p:txBody>
      </p:sp>
      <p:sp>
        <p:nvSpPr>
          <p:cNvPr id="14" name="Text 11"/>
          <p:cNvSpPr/>
          <p:nvPr/>
        </p:nvSpPr>
        <p:spPr>
          <a:xfrm>
            <a:off x="11384280" y="65105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A879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411480" y="6419088"/>
            <a:ext cx="11338560" cy="0"/>
          </a:xfrm>
          <a:prstGeom prst="line">
            <a:avLst/>
          </a:prstGeom>
          <a:noFill/>
          <a:ln w="12700">
            <a:solidFill>
              <a:srgbClr val="E6EEF5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핵심 그래프 해석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히트맵에서 선택한 조합을 좌표 기반 지리공간 분포도로 확인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566928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접근성을 생각하면 지도 기반으로 확인해야 하고, 실외 이동 동선과 가까운 지하철 노선·역 정보를 함께 보는 것이 활용성이 높다고 판단했습니다.</a:t>
            </a:r>
            <a:endParaRPr lang="en-US" sz="1300" dirty="0"/>
          </a:p>
        </p:txBody>
      </p:sp>
      <p:pic>
        <p:nvPicPr>
          <p:cNvPr id="6" name="Image 0" descr="/mnt/data/wifi_assets/scatter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6572" y="1691640"/>
            <a:ext cx="5013960" cy="4297680"/>
          </a:xfrm>
          <a:prstGeom prst="rect">
            <a:avLst/>
          </a:prstGeom>
        </p:spPr>
      </p:pic>
      <p:pic>
        <p:nvPicPr>
          <p:cNvPr id="7" name="Image 1" descr="/mnt/data/wifi_assets/top_comb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6228" y="1645920"/>
            <a:ext cx="5266944" cy="292608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446520" y="4892040"/>
            <a:ext cx="5166360" cy="658368"/>
          </a:xfrm>
          <a:prstGeom prst="roundRect">
            <a:avLst>
              <a:gd name="adj" fmla="val 11111"/>
            </a:avLst>
          </a:prstGeom>
          <a:solidFill>
            <a:srgbClr val="EAF4FB"/>
          </a:solidFill>
          <a:ln w="12700">
            <a:solidFill>
              <a:srgbClr val="1F5D8C">
                <a:alpha val="40000"/>
              </a:srgbClr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446520" y="4892040"/>
            <a:ext cx="54864" cy="658368"/>
          </a:xfrm>
          <a:prstGeom prst="rect">
            <a:avLst/>
          </a:prstGeom>
          <a:solidFill>
            <a:srgbClr val="1F5D8C"/>
          </a:solidFill>
          <a:ln w="12700">
            <a:solidFill>
              <a:srgbClr val="1F5D8C">
                <a:alpha val="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592824" y="4965192"/>
            <a:ext cx="4910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해석 시 주의: 행정구역 경계나 실제 도로 지도가 아니라, 원본 데이터의 X·Y 좌표를 이용한 참고용 위치 분포입니다.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92240" y="574243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조합은 “전체 개수”가 아니라 “면적 대비 촘촘함” 기준에서 달라집니다.</a:t>
            </a:r>
            <a:endParaRPr lang="en-US" sz="1030" dirty="0"/>
          </a:p>
        </p:txBody>
      </p:sp>
      <p:sp>
        <p:nvSpPr>
          <p:cNvPr id="12" name="Text 8"/>
          <p:cNvSpPr/>
          <p:nvPr/>
        </p:nvSpPr>
        <p:spPr>
          <a:xfrm>
            <a:off x="411480" y="6547104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A879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실외 공공와이파이 접근성 분석</a:t>
            </a:r>
            <a:endParaRPr lang="en-US" sz="650" dirty="0"/>
          </a:p>
        </p:txBody>
      </p:sp>
      <p:sp>
        <p:nvSpPr>
          <p:cNvPr id="13" name="Text 9"/>
          <p:cNvSpPr/>
          <p:nvPr/>
        </p:nvSpPr>
        <p:spPr>
          <a:xfrm>
            <a:off x="11384280" y="65105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A879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750" dirty="0"/>
          </a:p>
        </p:txBody>
      </p:sp>
      <p:sp>
        <p:nvSpPr>
          <p:cNvPr id="14" name="Shape 10"/>
          <p:cNvSpPr/>
          <p:nvPr/>
        </p:nvSpPr>
        <p:spPr>
          <a:xfrm>
            <a:off x="411480" y="6419088"/>
            <a:ext cx="11338560" cy="0"/>
          </a:xfrm>
          <a:prstGeom prst="line">
            <a:avLst/>
          </a:prstGeom>
          <a:noFill/>
          <a:ln w="12700">
            <a:solidFill>
              <a:srgbClr val="E6EEF5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검정 여부와 분석 성격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가설검정보다는 설치 밀도를 비교하는 기술통계 분석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640080" y="1261872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EAF4FB"/>
          </a:solidFill>
          <a:ln w="12700">
            <a:solidFill>
              <a:srgbClr val="CEE1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5727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D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검정은 수행하지 않음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1993392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분석은 자치구별 공공와이파이 설치 위치의 밀도를 비교하는 기술통계 분석입니다. 따라서 집단 간 평균 차이를 검정하는 t-검정 등의 가설검정은 수행하지 않았습니다.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6400800" y="1261872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FF4DD"/>
          </a:solidFill>
          <a:ln w="12700">
            <a:solidFill>
              <a:srgbClr val="F2DC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15727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대신 확인한 것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675120" y="1993392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25개 자치구 기준 여부, 정상 좌표 범위, 중복 위치 제거, 면적 정보 결합, 최종 좌표 결측치 여부를 확인했습니다.</a:t>
            </a:r>
            <a:endParaRPr lang="en-US" sz="1120" dirty="0"/>
          </a:p>
        </p:txBody>
      </p:sp>
      <p:sp>
        <p:nvSpPr>
          <p:cNvPr id="11" name="Text 9"/>
          <p:cNvSpPr/>
          <p:nvPr/>
        </p:nvSpPr>
        <p:spPr>
          <a:xfrm>
            <a:off x="658368" y="36576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정제·검증 요약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58368" y="4160520"/>
            <a:ext cx="16459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43159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164건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768096" y="4700016"/>
            <a:ext cx="1426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25개 자치구 외 제외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2697480" y="4160520"/>
            <a:ext cx="16459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88920" y="43159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37건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2807208" y="4700016"/>
            <a:ext cx="1426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 오류·범위 밖 제외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4736592" y="4160520"/>
            <a:ext cx="16459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28032" y="43159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1,878건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4846320" y="4700016"/>
            <a:ext cx="1426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위치 중복 제거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775704" y="4160520"/>
            <a:ext cx="16459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7144" y="43159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D8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885432" y="4700016"/>
            <a:ext cx="1426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면적 정보 누락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8814816" y="4160520"/>
            <a:ext cx="16459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06256" y="43159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D8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924544" y="4700016"/>
            <a:ext cx="1426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X·Y 결측치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658368" y="5623560"/>
            <a:ext cx="10424160" cy="411480"/>
          </a:xfrm>
          <a:prstGeom prst="roundRect">
            <a:avLst>
              <a:gd name="adj" fmla="val 17778"/>
            </a:avLst>
          </a:prstGeom>
          <a:solidFill>
            <a:srgbClr val="F6F8FB"/>
          </a:solidFill>
          <a:ln w="12700">
            <a:solidFill>
              <a:srgbClr val="D9E2EC">
                <a:alpha val="4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58368" y="5623560"/>
            <a:ext cx="54864" cy="411480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04672" y="5696712"/>
            <a:ext cx="101681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발표에서는 “통계적 유의성 검정”이 아니라 “위치 밀도 비교와 데이터 정제 기준”을 중심으로 설명합니다.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11480" y="6547104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A879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실외 공공와이파이 접근성 분석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11384280" y="65105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A879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11480" y="6419088"/>
            <a:ext cx="11338560" cy="0"/>
          </a:xfrm>
          <a:prstGeom prst="line">
            <a:avLst/>
          </a:prstGeom>
          <a:noFill/>
          <a:ln w="12700">
            <a:solidFill>
              <a:srgbClr val="E6EEF5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AI 활용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방향·점수화·시각화 구현을 보조 도구로 활용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64008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D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요청한 핵심 작업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5257800" cy="14447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</a:t>
            </a:r>
            <a:pPr indent="0" marL="0">
              <a:buNone/>
            </a:pPr>
            <a:r>
              <a:rPr lang="en-US" sz="122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장소유형별 가중치 점수 반영
</a:t>
            </a:r>
            <a:pPr indent="0" marL="0">
              <a:buNone/>
            </a:pPr>
            <a:r>
              <a:rPr lang="en-US" sz="122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</a:t>
            </a:r>
            <a:pPr indent="0" marL="0">
              <a:buNone/>
            </a:pPr>
            <a:r>
              <a:rPr lang="en-US" sz="122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고유위치수, 면적(㎢), 1㎢당 고유위치수 계산 기준 정리
</a:t>
            </a:r>
            <a:pPr indent="0" marL="0">
              <a:buNone/>
            </a:pPr>
            <a:r>
              <a:rPr lang="en-US" sz="122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</a:t>
            </a:r>
            <a:pPr indent="0" marL="0">
              <a:buNone/>
            </a:pPr>
            <a:r>
              <a:rPr lang="en-US" sz="122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히트맵 선택 시 좌표 기반 상세 분포도와 순위표를 함께 표시
</a:t>
            </a:r>
            <a:pPr indent="0" marL="0">
              <a:buNone/>
            </a:pPr>
            <a:r>
              <a:rPr lang="en-US" sz="122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</a:t>
            </a:r>
            <a:pPr indent="0" marL="0">
              <a:buNone/>
            </a:pPr>
            <a:r>
              <a:rPr lang="en-US" sz="122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 노선·역 데이터를 지도 위에 함께 표시</a:t>
            </a:r>
            <a:endParaRPr lang="en-US" sz="1220" dirty="0"/>
          </a:p>
        </p:txBody>
      </p:sp>
      <p:sp>
        <p:nvSpPr>
          <p:cNvPr id="7" name="Shape 5"/>
          <p:cNvSpPr/>
          <p:nvPr/>
        </p:nvSpPr>
        <p:spPr>
          <a:xfrm>
            <a:off x="658368" y="3584448"/>
            <a:ext cx="5257800" cy="1664208"/>
          </a:xfrm>
          <a:prstGeom prst="roundRect">
            <a:avLst>
              <a:gd name="adj" fmla="val 4396"/>
            </a:avLst>
          </a:prstGeom>
          <a:solidFill>
            <a:srgbClr val="E7F6F7"/>
          </a:solidFill>
          <a:ln w="12700">
            <a:solidFill>
              <a:srgbClr val="BFE4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849624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8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좌표 데이터 활용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42519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seoul_subway_lines.geojson: 지하철 노선 선 좌표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seoul_subway_stations.geojson: 지하철역 좌표·역명·노선 정보</a:t>
            </a:r>
            <a:endParaRPr lang="en-US" sz="1100" dirty="0"/>
          </a:p>
        </p:txBody>
      </p:sp>
      <p:pic>
        <p:nvPicPr>
          <p:cNvPr id="10" name="Image 0" descr="/mnt/data/wifi_assets/scatter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75704" y="1143000"/>
            <a:ext cx="4480560" cy="38404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382512" y="5257800"/>
            <a:ext cx="5212080" cy="502920"/>
          </a:xfrm>
          <a:prstGeom prst="roundRect">
            <a:avLst>
              <a:gd name="adj" fmla="val 14545"/>
            </a:avLst>
          </a:prstGeom>
          <a:solidFill>
            <a:srgbClr val="FFF4DD"/>
          </a:solidFill>
          <a:ln w="1270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382512" y="5257800"/>
            <a:ext cx="54864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28816" y="5330952"/>
            <a:ext cx="495604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구분: AI는 시각화 구조와 코드 작성을 도왔고, 분석 질문·데이터 기준·해석 방향은 사람이 판단했습니다.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11480" y="6547104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A879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실외 공공와이파이 접근성 분석</a:t>
            </a:r>
            <a:endParaRPr lang="en-US" sz="650" dirty="0"/>
          </a:p>
        </p:txBody>
      </p:sp>
      <p:sp>
        <p:nvSpPr>
          <p:cNvPr id="15" name="Text 12"/>
          <p:cNvSpPr/>
          <p:nvPr/>
        </p:nvSpPr>
        <p:spPr>
          <a:xfrm>
            <a:off x="11384280" y="65105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A879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411480" y="6419088"/>
            <a:ext cx="11338560" cy="0"/>
          </a:xfrm>
          <a:prstGeom prst="line">
            <a:avLst/>
          </a:prstGeom>
          <a:noFill/>
          <a:ln w="12700">
            <a:solidFill>
              <a:srgbClr val="E6EEF5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및 HTML 시연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PPT는 요약, HTML은 인터랙티브 상세 확인용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713232" y="1417320"/>
            <a:ext cx="804672" cy="256032"/>
          </a:xfrm>
          <a:prstGeom prst="roundRect">
            <a:avLst>
              <a:gd name="adj" fmla="val 17857"/>
            </a:avLst>
          </a:prstGeom>
          <a:solidFill>
            <a:srgbClr val="1F5D8C"/>
          </a:solidFill>
          <a:ln w="12700">
            <a:solidFill>
              <a:srgbClr val="1F5D8C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67612"/>
            <a:ext cx="6217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1</a:t>
            </a:r>
            <a:endParaRPr lang="en-US" sz="650" dirty="0"/>
          </a:p>
        </p:txBody>
      </p:sp>
      <p:sp>
        <p:nvSpPr>
          <p:cNvPr id="7" name="Text 5"/>
          <p:cNvSpPr/>
          <p:nvPr/>
        </p:nvSpPr>
        <p:spPr>
          <a:xfrm>
            <a:off x="1755648" y="1399032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공공와이파이 접근성은 단순 설치 수보다 면적 대비 밀도로 보는 것이 적절합니다.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13232" y="2148840"/>
            <a:ext cx="804672" cy="256032"/>
          </a:xfrm>
          <a:prstGeom prst="roundRect">
            <a:avLst>
              <a:gd name="adj" fmla="val 17857"/>
            </a:avLst>
          </a:prstGeom>
          <a:solidFill>
            <a:srgbClr val="1D8A99"/>
          </a:solidFill>
          <a:ln w="12700">
            <a:solidFill>
              <a:srgbClr val="1D8A99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2199132"/>
            <a:ext cx="6217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2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755648" y="2130552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실외 이용을 고려하면 자치구뿐 아니라 장소유형과 이동 동선을 함께 봐야 합니다.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13232" y="2880360"/>
            <a:ext cx="80467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2930652"/>
            <a:ext cx="6217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3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755648" y="2862072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HTML에서는 히트맵 클릭 후 자치구·장소유형별 상세 위치와 순위를 확인할 수 있습니다.</a:t>
            </a:r>
            <a:endParaRPr lang="en-US" sz="1350" dirty="0"/>
          </a:p>
        </p:txBody>
      </p:sp>
      <p:pic>
        <p:nvPicPr>
          <p:cNvPr id="14" name="Image 0" descr="/mnt/data/wifi_assets/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246064"/>
            <a:ext cx="2514600" cy="1576953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138928" y="3703320"/>
            <a:ext cx="38862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5413248" y="3950208"/>
            <a:ext cx="3337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별첨 HTML 시연 파일</a:t>
            </a:r>
            <a:endParaRPr lang="en-US" sz="1350" dirty="0"/>
          </a:p>
        </p:txBody>
      </p:sp>
      <p:sp>
        <p:nvSpPr>
          <p:cNvPr id="17" name="Text 14">
            <a:hlinkClick r:id="rId2" tooltip=""/>
          </p:cNvPr>
          <p:cNvSpPr/>
          <p:nvPr/>
        </p:nvSpPr>
        <p:spPr>
          <a:xfrm>
            <a:off x="5522976" y="43708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u="sng" dirty="0">
                <a:solidFill>
                  <a:srgbClr val="1F5D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wifi_accessibility_chart.html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14400" y="5257800"/>
            <a:ext cx="10332720" cy="502920"/>
          </a:xfrm>
          <a:prstGeom prst="roundRect">
            <a:avLst>
              <a:gd name="adj" fmla="val 14545"/>
            </a:avLst>
          </a:prstGeom>
          <a:solidFill>
            <a:srgbClr val="F6F8FB"/>
          </a:solidFill>
          <a:ln w="12700">
            <a:solidFill>
              <a:srgbClr val="D9E2EC">
                <a:alpha val="4000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14400" y="5257800"/>
            <a:ext cx="54864" cy="502920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060704" y="5330952"/>
            <a:ext cx="1007668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0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발표자료와 HTML 파일을 같은 폴더에 두고, 발표 모드에서 링크를 클릭하면 Chrome 등 기본 브라우저로 열 수 있습니다.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11480" y="6547104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A879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실외 공공와이파이 접근성 분석</a:t>
            </a:r>
            <a:endParaRPr lang="en-US" sz="650" dirty="0"/>
          </a:p>
        </p:txBody>
      </p:sp>
      <p:sp>
        <p:nvSpPr>
          <p:cNvPr id="22" name="Text 19"/>
          <p:cNvSpPr/>
          <p:nvPr/>
        </p:nvSpPr>
        <p:spPr>
          <a:xfrm>
            <a:off x="11384280" y="65105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A879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411480" y="6419088"/>
            <a:ext cx="11338560" cy="0"/>
          </a:xfrm>
          <a:prstGeom prst="line">
            <a:avLst/>
          </a:prstGeom>
          <a:noFill/>
          <a:ln w="12700">
            <a:solidFill>
              <a:srgbClr val="E6EEF5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서울 실외 공공와이파이 접근성 분석</dc:title>
  <dc:subject>서울 실외 공공와이파이 접근성 분석</dc:subject>
  <dc:creator>OpenAI</dc:creator>
  <cp:lastModifiedBy>OpenAI</cp:lastModifiedBy>
  <cp:revision>1</cp:revision>
  <dcterms:created xsi:type="dcterms:W3CDTF">2026-09-10T03:23:56Z</dcterms:created>
  <dcterms:modified xsi:type="dcterms:W3CDTF">2026-09-10T03:23:56Z</dcterms:modified>
</cp:coreProperties>
</file>